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00C8B5"/>
                </a:solidFill>
              </a:rPr>
              <a:t>KASAL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5F5F5"/>
                </a:solidFill>
              </a:rPr>
              <a:t>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BEC5"/>
                </a:solidFill>
              </a:rPr>
              <a:t>AI Agent Workflow Orchestration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297680"/>
            <a:ext cx="3931920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BEC5"/>
                </a:solidFill>
              </a:rPr>
              <a:t>FastAPI  ·  React  ·  CrewAI  ·  Databricks  ·  MLflow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C5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High-Level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777240"/>
            <a:ext cx="9966960" cy="548640"/>
          </a:xfrm>
          <a:prstGeom prst="rect">
            <a:avLst/>
          </a:prstGeom>
          <a:solidFill>
            <a:srgbClr val="FF6B3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41247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USER /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417320"/>
            <a:ext cx="9966960" cy="548640"/>
          </a:xfrm>
          <a:prstGeom prst="rect">
            <a:avLst/>
          </a:prstGeom>
          <a:solidFill>
            <a:srgbClr val="1E88E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48132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React Frontend  (TypeScript · MUI · ReactFlow · Zustand)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057400"/>
            <a:ext cx="9966960" cy="548640"/>
          </a:xfrm>
          <a:prstGeom prst="rect">
            <a:avLst/>
          </a:prstGeom>
          <a:solidFill>
            <a:srgbClr val="1A6BA0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2140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FastAPI REST API  (/api/v1)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697480"/>
            <a:ext cx="9966960" cy="548640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76148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Service Layer  (Business Logic · Orchestration)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337560"/>
            <a:ext cx="9966960" cy="548640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0156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Repository Layer  (Unit of Work · SQLAlchemy 2.0)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77639"/>
            <a:ext cx="9966960" cy="548640"/>
          </a:xfrm>
          <a:prstGeom prst="rect">
            <a:avLst/>
          </a:prstGeom>
          <a:solidFill>
            <a:srgbClr val="0A355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041648"/>
            <a:ext cx="98755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Database  (SQLite / PostgreSQL)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3258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8B5"/>
                </a:solidFill>
              </a:rPr>
              <a:t>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9659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8B5"/>
                </a:solidFill>
              </a:rPr>
              <a:t>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6060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8B5"/>
                </a:solidFill>
              </a:rPr>
              <a:t>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461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8B5"/>
                </a:solidFill>
              </a:rPr>
              <a:t>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86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C8B5"/>
                </a:solidFill>
              </a:rPr>
              <a:t>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1188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BEC5"/>
                </a:solidFill>
              </a:rPr>
              <a:t>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5544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" y="15727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Databricks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" y="20116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" y="2029967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MLflow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688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24871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OpenAI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" y="29260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" y="29443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Anthropic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33832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" y="34015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MCP Servers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11887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0BEC5"/>
                </a:solidFill>
              </a:rPr>
              <a:t>External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109960" y="15544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28248" y="15727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CrewAI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09960" y="20116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28248" y="2029967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LiteLLM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109960" y="24688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28248" y="24871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Alembic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09960" y="29260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28248" y="29443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DSPy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109960" y="3383280"/>
            <a:ext cx="914400" cy="320040"/>
          </a:xfrm>
          <a:prstGeom prst="rect">
            <a:avLst/>
          </a:prstGeom>
          <a:solidFill>
            <a:srgbClr val="153A55"/>
          </a:solidFill>
          <a:ln w="63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28248" y="3401568"/>
            <a:ext cx="87782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EC5"/>
                </a:solidFill>
              </a:rPr>
              <a:t>Vector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Backend Architecture  (FastAPI + Clean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749808"/>
            <a:ext cx="278892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768096"/>
            <a:ext cx="26974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API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749808"/>
            <a:ext cx="2788920" cy="411480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768096"/>
            <a:ext cx="26974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749808"/>
            <a:ext cx="278892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768096"/>
            <a:ext cx="26974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Repositories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749808"/>
            <a:ext cx="2788920" cy="411480"/>
          </a:xfrm>
          <a:prstGeom prst="rect">
            <a:avLst/>
          </a:prstGeom>
          <a:solidFill>
            <a:srgbClr val="0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768096"/>
            <a:ext cx="269747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</a:rPr>
              <a:t>DB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26187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1" y="128930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agents_router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170992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1" y="173736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crews_router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" y="2157984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1" y="2185415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executions_router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2606039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1" y="263347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flows_router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3054096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1" y="308152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tools_router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3502152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1" y="352958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scheduler_router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3950208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0311" y="3977639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auth_router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4398264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1" y="4425696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databricks_router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4846320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1" y="487375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mcp_router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5294376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1" y="532180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models_router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" y="574243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0311" y="576986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templates_router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" y="619048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1" y="621792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users_router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54680" y="126187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832" y="128930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agent_service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170992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27832" y="173736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crew_service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54680" y="2157984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27832" y="2185415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crewai_execution_service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80" y="2606039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27832" y="263347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flow_service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54680" y="3054096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7832" y="308152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tool_service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3502152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27832" y="352958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scheduler_service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3950208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27832" y="3977639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databricks_service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54680" y="4398264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27832" y="4425696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memory_backend_service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54680" y="4846320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27832" y="487375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mlflow_service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54680" y="5294376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27832" y="532180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template_service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54680" y="574243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27832" y="576986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user_service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54680" y="619048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27832" y="621792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auth_service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26187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45352" y="128930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AgentRepository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170992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5352" y="173736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CrewRepository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2157984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5352" y="2185415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ExecutionRepository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2606039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5352" y="263347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FlowRepository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72200" y="3054096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5352" y="308152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ToolRepository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502152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45352" y="352958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ScheduleRepository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72200" y="3950208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45352" y="3977639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ModelConfigRepository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4398264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45352" y="4425696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TemplateRepository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72200" y="4846320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45352" y="487375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UserRepository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5294376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45352" y="532180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GroupRepository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574243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45352" y="576986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MCPRepository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619048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45352" y="621792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UnitOfWork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189720" y="126187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62872" y="128930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Agent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89720" y="170992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62872" y="173736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Crew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89720" y="2157984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62872" y="2185415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Task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89720" y="2606039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62872" y="263347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Tool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89720" y="3054096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62872" y="308152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Flow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189720" y="3502152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262872" y="352958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FlowExecution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89720" y="3950208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62872" y="3977639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ExecutionHistory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189720" y="4398264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62872" y="4425696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ExecutionLogs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189720" y="4846320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62872" y="4873752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Schedule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89720" y="5294376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262872" y="5321808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ModelConfig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89720" y="5742432"/>
            <a:ext cx="2788920" cy="429768"/>
          </a:xfrm>
          <a:prstGeom prst="rect">
            <a:avLst/>
          </a:prstGeom>
          <a:solidFill>
            <a:srgbClr val="12283C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62872" y="5769864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Template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189720" y="6190488"/>
            <a:ext cx="2788920" cy="429768"/>
          </a:xfrm>
          <a:prstGeom prst="rect">
            <a:avLst/>
          </a:prstGeom>
          <a:solidFill>
            <a:srgbClr val="0D1B2A"/>
          </a:solidFill>
          <a:ln w="635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262872" y="6217920"/>
            <a:ext cx="2642615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User / Group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2608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88E5"/>
                </a:solidFill>
              </a:rPr>
              <a:t>→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94360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88E5"/>
                </a:solidFill>
              </a:rPr>
              <a:t>→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6112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88E5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Frontend Architecture  (React 18 + TypeScript)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B5"/>
                </a:solidFill>
              </a:rPr>
              <a:t>Component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88E5"/>
                </a:solidFill>
              </a:rPr>
              <a:t>App.tsx (Root)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19072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WorkflowEditor (ReactFlow)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03704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        └─ AgentPanel / TaskPanel / CrewPanel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ExecutionMonitor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72968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        └─ ExecutionLogs / ExecutionHistory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ChatInterface (Genie)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42232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TemplateLibrary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26864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SettingsPage (Models, Tools, MCP)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11496"/>
            <a:ext cx="5760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B5"/>
                </a:solidFill>
              </a:rPr>
              <a:t>    └─ DocumentationViewer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35"/>
                </a:solidFill>
              </a:rPr>
              <a:t>State &amp; Data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234440"/>
            <a:ext cx="5486400" cy="3200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71016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Zustand Stores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workflowStore  – nodes/edges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92808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executionStore  – run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3113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agentStore  – agent configs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9464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crewStore  – crew configs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999232"/>
            <a:ext cx="5486400" cy="3200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035808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API Services (apiClient)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1927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AgentService, CrewService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ExecutionService, FlowService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95928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ToolService, ModelService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34256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SchedulerService, MCPService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764024"/>
            <a:ext cx="5486400" cy="320040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00600"/>
            <a:ext cx="5394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Key Libraries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084064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ReactFlow  – visual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22392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Material-UI  – design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760720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Axios  – HTTP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6099048"/>
            <a:ext cx="53035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TypeScript  – type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AI Engine  –  CrewAI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554480" cy="914400"/>
          </a:xfrm>
          <a:prstGeom prst="rect">
            <a:avLst/>
          </a:prstGeom>
          <a:solidFill>
            <a:srgbClr val="FF6B3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Execution
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097280"/>
            <a:ext cx="1554480" cy="914400"/>
          </a:xfrm>
          <a:prstGeom prst="rect">
            <a:avLst/>
          </a:prstGeom>
          <a:solidFill>
            <a:srgbClr val="1E88E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Config
Adapter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097280"/>
            <a:ext cx="1554480" cy="914400"/>
          </a:xfrm>
          <a:prstGeom prst="rect">
            <a:avLst/>
          </a:prstGeom>
          <a:solidFill>
            <a:srgbClr val="1E88E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59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Crew
Preparation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097280"/>
            <a:ext cx="1554480" cy="914400"/>
          </a:xfrm>
          <a:prstGeom prst="rect">
            <a:avLst/>
          </a:prstGeom>
          <a:solidFill>
            <a:srgbClr val="00C8B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CrewAI
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097280"/>
            <a:ext cx="1554480" cy="914400"/>
          </a:xfrm>
          <a:prstGeom prst="rect">
            <a:avLst/>
          </a:prstGeom>
          <a:solidFill>
            <a:srgbClr val="1E88E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Execution
Runner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97280"/>
            <a:ext cx="1554480" cy="914400"/>
          </a:xfrm>
          <a:prstGeom prst="rect">
            <a:avLst/>
          </a:prstGeom>
          <a:solidFill>
            <a:srgbClr val="FF6B35"/>
          </a:solidFill>
          <a:ln w="6350"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207007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Results /
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B5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B5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B5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B5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C8B5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77440"/>
            <a:ext cx="2651760" cy="347472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423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Memory 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24912"/>
            <a:ext cx="2651760" cy="1645920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278892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Short-term / Long-term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17296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ChromaDB (default)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557016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Databricks Vector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941064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Crew-scoped isolation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377440"/>
            <a:ext cx="2651760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423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Tool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2724912"/>
            <a:ext cx="2651760" cy="1645920"/>
          </a:xfrm>
          <a:prstGeom prst="rect">
            <a:avLst/>
          </a:prstGeom>
          <a:solidFill>
            <a:srgbClr val="1A2E45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1568" y="278892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Tool Factory (extensible)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317296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Built-in: Web, File,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3557016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MCP Server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3941064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Custom tool plugins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377440"/>
            <a:ext cx="265176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2423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LLM Management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724912"/>
            <a:ext cx="2651760" cy="1645920"/>
          </a:xfrm>
          <a:prstGeom prst="rect">
            <a:avLst/>
          </a:prstGeom>
          <a:solidFill>
            <a:srgbClr val="1A2E4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278892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LiteLLM multi-provider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17296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Databricks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557016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OpenAI / Anthropic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941064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DSPy optimization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2377440"/>
            <a:ext cx="2651760" cy="347472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72600" y="24231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Observability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2724912"/>
            <a:ext cx="2651760" cy="1645920"/>
          </a:xfrm>
          <a:prstGeom prst="rect">
            <a:avLst/>
          </a:prstGeom>
          <a:solidFill>
            <a:srgbClr val="1A2E45"/>
          </a:solidFill>
          <a:ln w="9525">
            <a:solidFill>
              <a:srgbClr val="E04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607" y="2788920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MLflow tracing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7" y="3172968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Execution logs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7" y="3557016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Trace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36607" y="3941064"/>
            <a:ext cx="2432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Callbacks / hooks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Data &amp; Integration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22960"/>
            <a:ext cx="27432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8696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Database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2743200" cy="2194560"/>
          </a:xfrm>
          <a:prstGeom prst="rect">
            <a:avLst/>
          </a:prstGeom>
          <a:solidFill>
            <a:srgbClr val="1A2E45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SQLAlchemy 2.0 (async ORM)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28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Alembic migrations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30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SQLite (dev) / PostgreSQL (prod)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Auto-seeding on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9352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Async connection pooling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822960"/>
            <a:ext cx="2743200" cy="411480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88696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Databricks Integration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234440"/>
            <a:ext cx="2743200" cy="2194560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OBO / OAuth / PAT auth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28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Vector Search (Direct Access)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30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Model Serving 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Genie Spaces (chat 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9352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Secrets management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822960"/>
            <a:ext cx="27432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88696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Authentication &amp; Security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234440"/>
            <a:ext cx="2743200" cy="2194560"/>
          </a:xfrm>
          <a:prstGeom prst="rect">
            <a:avLst/>
          </a:prstGeom>
          <a:solidFill>
            <a:srgbClr val="1A2E4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JWT token auth (HS256)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728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Databricks OBO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130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X-Forwarded-Access-Token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Group-based tenancy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352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Encrypted token storage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822960"/>
            <a:ext cx="2743200" cy="4114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886968"/>
            <a:ext cx="265176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Scheduler &amp; MCP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1234440"/>
            <a:ext cx="2743200" cy="2194560"/>
          </a:xfrm>
          <a:prstGeom prst="rect">
            <a:avLst/>
          </a:prstGeom>
          <a:solidFill>
            <a:srgbClr val="1A2E45"/>
          </a:solidFill>
          <a:ln w="9525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APScheduler cron jobs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17282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Automated crew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1305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MCP server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532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Tool extension via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9352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EC5"/>
                </a:solidFill>
              </a:rPr>
              <a:t>• Remote tool protocols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B5"/>
                </a:solidFill>
              </a:rPr>
              <a:t>Memory Architecture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3840480"/>
            <a:ext cx="2743200" cy="822960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904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B5"/>
                </a:solidFill>
              </a:rPr>
              <a:t>Short-term 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1879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In-session context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8960" y="3840480"/>
            <a:ext cx="2743200" cy="822960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0" y="3904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B5"/>
                </a:solidFill>
              </a:rPr>
              <a:t>Long-term Memory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1879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Persistent learning across runs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3840480"/>
            <a:ext cx="2743200" cy="822960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6480" y="3904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B5"/>
                </a:solidFill>
              </a:rPr>
              <a:t>Entity Memory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1879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Named entity tracking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3840480"/>
            <a:ext cx="2743200" cy="822960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3904487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B5"/>
                </a:solidFill>
              </a:rPr>
              <a:t>Document Memory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41879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EC5"/>
                </a:solidFill>
              </a:rPr>
              <a:t>Documentation embeddings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Deployment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822960"/>
            <a:ext cx="3657600" cy="4114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868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234440"/>
            <a:ext cx="3657600" cy="2286000"/>
          </a:xfrm>
          <a:prstGeom prst="rect">
            <a:avLst/>
          </a:prstGeom>
          <a:solidFill>
            <a:srgbClr val="1A2E45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25880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Backend: uvicorn --reload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746504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Frontend: npm start (HMR)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2167128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SQLite local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587752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Auto-seeded model configs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008376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python-dotenv for env vars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822960"/>
            <a:ext cx="3657600" cy="411480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868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Build &amp; Package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34440"/>
            <a:ext cx="3657600" cy="2286000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1325880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python src/build.py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746504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React → frontend_static/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167128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FastAPI serves static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587752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uv package manager (backend)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008376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npm for 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822960"/>
            <a:ext cx="3657600" cy="4114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8686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Production / Databricks Apps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234440"/>
            <a:ext cx="3657600" cy="2286000"/>
          </a:xfrm>
          <a:prstGeom prst="rect">
            <a:avLst/>
          </a:prstGeom>
          <a:solidFill>
            <a:srgbClr val="1A2E4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1325880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python src/deploy.py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1746504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PostgreSQL 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167128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Databricks OBO auth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587752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Environment-based config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008376"/>
            <a:ext cx="3438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</a:rPr>
              <a:t>• Databricks Apps hosting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</a:rPr>
              <a:t>Technology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Python 3.9+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0552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48840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FastAPI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23944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2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SQLAlchemy 2.0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17336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Alembic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0728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29016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Pydantic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04120" y="425196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22408" y="427939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E88E5"/>
                </a:solidFill>
              </a:rPr>
              <a:t>uv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5448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React 18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30552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TypeScript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23944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42232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Material-UI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17336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ReactFlow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0728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29016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Zustand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04120" y="475488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22408" y="4782312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0C8B5"/>
                </a:solidFill>
              </a:rPr>
              <a:t>Axios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5448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CrewAI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30552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40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LiteLLM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23944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42232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MLflow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17336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DSPy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10728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29016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Databricks SDK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04120" y="5257800"/>
            <a:ext cx="1920240" cy="384048"/>
          </a:xfrm>
          <a:prstGeom prst="rect">
            <a:avLst/>
          </a:prstGeom>
          <a:solidFill>
            <a:srgbClr val="12283C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22408" y="5285231"/>
            <a:ext cx="18836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F6B35"/>
                </a:solidFill>
              </a:rPr>
              <a:t>MCP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</a:rPr>
              <a:t>Key Design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22960"/>
            <a:ext cx="5760720" cy="38404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Clean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20700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Strict separation: API → Service → Repository → Database. No layer skipping. Business logic lives exclusively in services.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822960"/>
            <a:ext cx="5760720" cy="384048"/>
          </a:xfrm>
          <a:prstGeom prst="rect">
            <a:avLst/>
          </a:prstGeom>
          <a:solidFill>
            <a:srgbClr val="00C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79" y="8869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Async-First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0700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00C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29844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All I/O operations use async/await. Non-blocking FastAPI with asyncpg/aiosqlite. Event loop-safe CrewAI execution via process isolation.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43200"/>
            <a:ext cx="5760720" cy="3840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07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Repository + Unit of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2724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1868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Database access only through repositories. Complex transactions wrapped in Unit of Work pattern ensuring atomicity and consistency.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743200"/>
            <a:ext cx="5760720" cy="38404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807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Multi-Tenant Isolation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2724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1868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Group-based data isolation. Crew IDs are deterministic hashes of config + group_id. Complete tenant separation in memory and vector stores.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663440"/>
            <a:ext cx="5760720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727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Extensible AI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04748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3892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Factory pattern for engines and tools. Pluggable LLM providers via LiteLLM. MCP protocol for external tool integration. DSPy for prompt optimization.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663440"/>
            <a:ext cx="5760720" cy="38404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79" y="472744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Observable Execution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047488"/>
            <a:ext cx="5760720" cy="1353312"/>
          </a:xfrm>
          <a:prstGeom prst="rect">
            <a:avLst/>
          </a:prstGeom>
          <a:solidFill>
            <a:srgbClr val="1A2E45"/>
          </a:solidFill>
          <a:ln w="9525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38928"/>
            <a:ext cx="548640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0BEC5"/>
                </a:solidFill>
              </a:rPr>
              <a:t>MLflow tracing for every crew run. Real-time log streaming. Execution trace storage. Callback hooks for custom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